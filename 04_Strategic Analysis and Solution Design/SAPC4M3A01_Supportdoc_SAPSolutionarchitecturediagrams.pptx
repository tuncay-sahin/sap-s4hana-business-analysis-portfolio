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8" roundtripDataSignature="AMtx7miO9BCiue7h+IRPdY7l0+eyXnvU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866f5b91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4866f5b91b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503263" y="904075"/>
            <a:ext cx="2035200" cy="3987600"/>
          </a:xfrm>
          <a:prstGeom prst="roundRect">
            <a:avLst>
              <a:gd fmla="val 4899" name="adj"/>
            </a:avLst>
          </a:prstGeom>
          <a:solidFill>
            <a:schemeClr val="lt1"/>
          </a:solidFill>
          <a:ln cap="flat" cmpd="sng" w="19050">
            <a:solidFill>
              <a:srgbClr val="2C9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385900" y="904075"/>
            <a:ext cx="1605900" cy="3987600"/>
          </a:xfrm>
          <a:prstGeom prst="roundRect">
            <a:avLst>
              <a:gd fmla="val 4899" name="adj"/>
            </a:avLst>
          </a:prstGeom>
          <a:solidFill>
            <a:schemeClr val="lt1"/>
          </a:solidFill>
          <a:ln cap="flat" cmpd="sng" w="19050">
            <a:solidFill>
              <a:srgbClr val="0F2B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4727729" y="904075"/>
            <a:ext cx="2482800" cy="3987600"/>
          </a:xfrm>
          <a:prstGeom prst="roundRect">
            <a:avLst>
              <a:gd fmla="val 4899" name="adj"/>
            </a:avLst>
          </a:prstGeom>
          <a:solidFill>
            <a:schemeClr val="lt1"/>
          </a:solidFill>
          <a:ln cap="flat" cmpd="sng" w="19050">
            <a:solidFill>
              <a:srgbClr val="D1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60450" y="904075"/>
            <a:ext cx="2153700" cy="3987600"/>
          </a:xfrm>
          <a:prstGeom prst="roundRect">
            <a:avLst>
              <a:gd fmla="val 4899" name="adj"/>
            </a:avLst>
          </a:prstGeom>
          <a:solidFill>
            <a:schemeClr val="lt1"/>
          </a:solidFill>
          <a:ln cap="flat" cmpd="sng" w="19050">
            <a:solidFill>
              <a:srgbClr val="2671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314256" y="1189619"/>
            <a:ext cx="1847700" cy="548700"/>
          </a:xfrm>
          <a:prstGeom prst="roundRect">
            <a:avLst>
              <a:gd fmla="val 16667" name="adj"/>
            </a:avLst>
          </a:prstGeom>
          <a:solidFill>
            <a:srgbClr val="D1F1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Engagement 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314256" y="2012581"/>
            <a:ext cx="1847700" cy="548700"/>
          </a:xfrm>
          <a:prstGeom prst="roundRect">
            <a:avLst>
              <a:gd fmla="val 16667" name="adj"/>
            </a:avLst>
          </a:prstGeom>
          <a:solidFill>
            <a:srgbClr val="2671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SAP Integration Suite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314256" y="2835543"/>
            <a:ext cx="1847700" cy="548700"/>
          </a:xfrm>
          <a:prstGeom prst="roundRect">
            <a:avLst>
              <a:gd fmla="val 16667" name="adj"/>
            </a:avLst>
          </a:prstGeom>
          <a:solidFill>
            <a:srgbClr val="2671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Master Data Management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693928" y="1189624"/>
            <a:ext cx="1645800" cy="548700"/>
          </a:xfrm>
          <a:prstGeom prst="roundRect">
            <a:avLst>
              <a:gd fmla="val 16667" name="adj"/>
            </a:avLst>
          </a:prstGeom>
          <a:solidFill>
            <a:srgbClr val="2C9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SAP Marketing Cloud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2693928" y="2012584"/>
            <a:ext cx="1645800" cy="548700"/>
          </a:xfrm>
          <a:prstGeom prst="roundRect">
            <a:avLst>
              <a:gd fmla="val 16667" name="adj"/>
            </a:avLst>
          </a:prstGeom>
          <a:solidFill>
            <a:srgbClr val="2C9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SAP Customer Data Platform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936853" y="1189619"/>
            <a:ext cx="2071200" cy="731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Digital Channels</a:t>
            </a:r>
            <a:br>
              <a:rPr b="0" i="0" lang="en-US" sz="1000" u="none" cap="none" strike="noStrike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(Web, Mobile, Social)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936853" y="2195463"/>
            <a:ext cx="2071200" cy="731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SAP FSI Core</a:t>
            </a:r>
            <a:br>
              <a:rPr b="0" i="0" lang="en-US" sz="1000" u="none" cap="none" strike="noStrike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(Loans, Deposits, Transactions)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4936853" y="3186066"/>
            <a:ext cx="2071200" cy="54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SAP Analytics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4936853" y="4024269"/>
            <a:ext cx="2071200" cy="548700"/>
          </a:xfrm>
          <a:prstGeom prst="roundRect">
            <a:avLst>
              <a:gd fmla="val 16667" name="adj"/>
            </a:avLst>
          </a:prstGeom>
          <a:solidFill>
            <a:srgbClr val="D1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API Management (SAP BTP Kyma)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7594550" y="1752024"/>
            <a:ext cx="1188600" cy="1069800"/>
          </a:xfrm>
          <a:prstGeom prst="roundRect">
            <a:avLst>
              <a:gd fmla="val 16667" name="adj"/>
            </a:avLst>
          </a:prstGeom>
          <a:solidFill>
            <a:srgbClr val="0F2B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Core Banking Ops</a:t>
            </a:r>
            <a:b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(Deposits, Cards, Loans)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7594550" y="3138119"/>
            <a:ext cx="1188600" cy="1069800"/>
          </a:xfrm>
          <a:prstGeom prst="roundRect">
            <a:avLst>
              <a:gd fmla="val 16667" name="adj"/>
            </a:avLst>
          </a:prstGeom>
          <a:solidFill>
            <a:srgbClr val="0F2B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Enterprise Data Warehouse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1"/>
          <p:cNvCxnSpPr/>
          <p:nvPr/>
        </p:nvCxnSpPr>
        <p:spPr>
          <a:xfrm>
            <a:off x="1238106" y="1714643"/>
            <a:ext cx="0" cy="319800"/>
          </a:xfrm>
          <a:prstGeom prst="straightConnector1">
            <a:avLst/>
          </a:prstGeom>
          <a:noFill/>
          <a:ln cap="flat" cmpd="sng" w="9525">
            <a:solidFill>
              <a:srgbClr val="787878"/>
            </a:solidFill>
            <a:prstDash val="solid"/>
            <a:round/>
            <a:headEnd len="sm" w="sm" type="oval"/>
            <a:tailEnd len="sm" w="sm" type="oval"/>
          </a:ln>
        </p:spPr>
      </p:cxnSp>
      <p:sp>
        <p:nvSpPr>
          <p:cNvPr id="100" name="Google Shape;100;p1"/>
          <p:cNvSpPr txBox="1"/>
          <p:nvPr/>
        </p:nvSpPr>
        <p:spPr>
          <a:xfrm>
            <a:off x="275150" y="-511250"/>
            <a:ext cx="66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Step 2: Define prototype data requirements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182875" y="201575"/>
            <a:ext cx="5209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SAP-Based Solution Architecture</a:t>
            </a:r>
            <a:endParaRPr b="1" i="0" sz="22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102;p1"/>
          <p:cNvCxnSpPr/>
          <p:nvPr/>
        </p:nvCxnSpPr>
        <p:spPr>
          <a:xfrm>
            <a:off x="1238106" y="2538885"/>
            <a:ext cx="0" cy="319800"/>
          </a:xfrm>
          <a:prstGeom prst="straightConnector1">
            <a:avLst/>
          </a:prstGeom>
          <a:noFill/>
          <a:ln cap="flat" cmpd="sng" w="9525">
            <a:solidFill>
              <a:srgbClr val="787878"/>
            </a:solidFill>
            <a:prstDash val="solid"/>
            <a:round/>
            <a:headEnd len="sm" w="sm" type="oval"/>
            <a:tailEnd len="sm" w="sm" type="oval"/>
          </a:ln>
        </p:spPr>
      </p:cxnSp>
      <p:cxnSp>
        <p:nvCxnSpPr>
          <p:cNvPr id="103" name="Google Shape;103;p1"/>
          <p:cNvCxnSpPr/>
          <p:nvPr/>
        </p:nvCxnSpPr>
        <p:spPr>
          <a:xfrm>
            <a:off x="5972456" y="1898624"/>
            <a:ext cx="0" cy="319800"/>
          </a:xfrm>
          <a:prstGeom prst="straightConnector1">
            <a:avLst/>
          </a:prstGeom>
          <a:noFill/>
          <a:ln cap="flat" cmpd="sng" w="9525">
            <a:solidFill>
              <a:srgbClr val="787878"/>
            </a:solidFill>
            <a:prstDash val="solid"/>
            <a:round/>
            <a:headEnd len="sm" w="sm" type="oval"/>
            <a:tailEnd len="sm" w="sm" type="oval"/>
          </a:ln>
        </p:spPr>
      </p:cxnSp>
      <p:cxnSp>
        <p:nvCxnSpPr>
          <p:cNvPr id="104" name="Google Shape;104;p1"/>
          <p:cNvCxnSpPr/>
          <p:nvPr/>
        </p:nvCxnSpPr>
        <p:spPr>
          <a:xfrm>
            <a:off x="5972456" y="2895949"/>
            <a:ext cx="0" cy="319800"/>
          </a:xfrm>
          <a:prstGeom prst="straightConnector1">
            <a:avLst/>
          </a:prstGeom>
          <a:noFill/>
          <a:ln cap="flat" cmpd="sng" w="9525">
            <a:solidFill>
              <a:srgbClr val="787878"/>
            </a:solidFill>
            <a:prstDash val="solid"/>
            <a:round/>
            <a:headEnd len="sm" w="sm" type="oval"/>
            <a:tailEnd len="sm" w="sm" type="oval"/>
          </a:ln>
        </p:spPr>
      </p:cxnSp>
      <p:cxnSp>
        <p:nvCxnSpPr>
          <p:cNvPr id="105" name="Google Shape;105;p1"/>
          <p:cNvCxnSpPr/>
          <p:nvPr/>
        </p:nvCxnSpPr>
        <p:spPr>
          <a:xfrm>
            <a:off x="5972456" y="3718465"/>
            <a:ext cx="0" cy="319800"/>
          </a:xfrm>
          <a:prstGeom prst="straightConnector1">
            <a:avLst/>
          </a:prstGeom>
          <a:noFill/>
          <a:ln cap="flat" cmpd="sng" w="9525">
            <a:solidFill>
              <a:srgbClr val="787878"/>
            </a:solidFill>
            <a:prstDash val="solid"/>
            <a:round/>
            <a:headEnd len="sm" w="sm" type="oval"/>
            <a:tailEnd len="sm" w="sm" type="oval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866f5b91b_1_0"/>
          <p:cNvSpPr/>
          <p:nvPr/>
        </p:nvSpPr>
        <p:spPr>
          <a:xfrm>
            <a:off x="2503263" y="904075"/>
            <a:ext cx="2035200" cy="3987600"/>
          </a:xfrm>
          <a:prstGeom prst="roundRect">
            <a:avLst>
              <a:gd fmla="val 4899" name="adj"/>
            </a:avLst>
          </a:prstGeom>
          <a:solidFill>
            <a:schemeClr val="lt1"/>
          </a:solidFill>
          <a:ln cap="flat" cmpd="sng" w="19050">
            <a:solidFill>
              <a:srgbClr val="2C9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4866f5b91b_1_0"/>
          <p:cNvSpPr/>
          <p:nvPr/>
        </p:nvSpPr>
        <p:spPr>
          <a:xfrm>
            <a:off x="7385900" y="904075"/>
            <a:ext cx="1605900" cy="3987600"/>
          </a:xfrm>
          <a:prstGeom prst="roundRect">
            <a:avLst>
              <a:gd fmla="val 4899" name="adj"/>
            </a:avLst>
          </a:prstGeom>
          <a:solidFill>
            <a:schemeClr val="lt1"/>
          </a:solidFill>
          <a:ln cap="flat" cmpd="sng" w="19050">
            <a:solidFill>
              <a:srgbClr val="0F2B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4866f5b91b_1_0"/>
          <p:cNvSpPr/>
          <p:nvPr/>
        </p:nvSpPr>
        <p:spPr>
          <a:xfrm>
            <a:off x="4727729" y="904075"/>
            <a:ext cx="2482800" cy="3987600"/>
          </a:xfrm>
          <a:prstGeom prst="roundRect">
            <a:avLst>
              <a:gd fmla="val 4899" name="adj"/>
            </a:avLst>
          </a:prstGeom>
          <a:solidFill>
            <a:schemeClr val="lt1"/>
          </a:solidFill>
          <a:ln cap="flat" cmpd="sng" w="19050">
            <a:solidFill>
              <a:srgbClr val="D1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4866f5b91b_1_0"/>
          <p:cNvSpPr/>
          <p:nvPr/>
        </p:nvSpPr>
        <p:spPr>
          <a:xfrm>
            <a:off x="160450" y="904075"/>
            <a:ext cx="2153700" cy="3987600"/>
          </a:xfrm>
          <a:prstGeom prst="roundRect">
            <a:avLst>
              <a:gd fmla="val 4899" name="adj"/>
            </a:avLst>
          </a:prstGeom>
          <a:solidFill>
            <a:schemeClr val="lt1"/>
          </a:solidFill>
          <a:ln cap="flat" cmpd="sng" w="19050">
            <a:solidFill>
              <a:srgbClr val="2671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4866f5b91b_1_0"/>
          <p:cNvSpPr/>
          <p:nvPr/>
        </p:nvSpPr>
        <p:spPr>
          <a:xfrm>
            <a:off x="327050" y="1173475"/>
            <a:ext cx="1829700" cy="661500"/>
          </a:xfrm>
          <a:prstGeom prst="roundRect">
            <a:avLst>
              <a:gd fmla="val 16667" name="adj"/>
            </a:avLst>
          </a:prstGeom>
          <a:solidFill>
            <a:srgbClr val="D1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Placeholder/</a:t>
            </a:r>
            <a:b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 Design &amp; CAD 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4866f5b91b_1_0"/>
          <p:cNvSpPr/>
          <p:nvPr/>
        </p:nvSpPr>
        <p:spPr>
          <a:xfrm>
            <a:off x="327051" y="2004181"/>
            <a:ext cx="1829700" cy="548700"/>
          </a:xfrm>
          <a:prstGeom prst="roundRect">
            <a:avLst>
              <a:gd fmla="val 16667" name="adj"/>
            </a:avLst>
          </a:prstGeom>
          <a:solidFill>
            <a:srgbClr val="2671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Integration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Placeholder/</a:t>
            </a:r>
            <a:b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SAP Integration Suite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4866f5b91b_1_0"/>
          <p:cNvSpPr/>
          <p:nvPr/>
        </p:nvSpPr>
        <p:spPr>
          <a:xfrm>
            <a:off x="327050" y="2827153"/>
            <a:ext cx="1829700" cy="731400"/>
          </a:xfrm>
          <a:prstGeom prst="roundRect">
            <a:avLst>
              <a:gd fmla="val 16667" name="adj"/>
            </a:avLst>
          </a:prstGeom>
          <a:solidFill>
            <a:srgbClr val="2671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Mgmt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Placeholder/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Master Data Management (MDM)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4866f5b91b_1_0"/>
          <p:cNvSpPr/>
          <p:nvPr/>
        </p:nvSpPr>
        <p:spPr>
          <a:xfrm>
            <a:off x="2673195" y="1173475"/>
            <a:ext cx="1704900" cy="548700"/>
          </a:xfrm>
          <a:prstGeom prst="roundRect">
            <a:avLst>
              <a:gd fmla="val 16667" name="adj"/>
            </a:avLst>
          </a:prstGeom>
          <a:solidFill>
            <a:srgbClr val="2C9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Marketing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Placeholder/</a:t>
            </a:r>
            <a:b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SAP Marketing Cloud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4866f5b91b_1_0"/>
          <p:cNvSpPr/>
          <p:nvPr/>
        </p:nvSpPr>
        <p:spPr>
          <a:xfrm>
            <a:off x="2673200" y="1996450"/>
            <a:ext cx="1704900" cy="731400"/>
          </a:xfrm>
          <a:prstGeom prst="roundRect">
            <a:avLst>
              <a:gd fmla="val 16667" name="adj"/>
            </a:avLst>
          </a:prstGeom>
          <a:solidFill>
            <a:srgbClr val="2C9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CDP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Placeholder/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</a:rPr>
              <a:t>SAP Customer Data Platform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9" name="Google Shape;119;g34866f5b91b_1_0"/>
          <p:cNvSpPr/>
          <p:nvPr/>
        </p:nvSpPr>
        <p:spPr>
          <a:xfrm>
            <a:off x="4884875" y="1173475"/>
            <a:ext cx="2153700" cy="731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Placeholder/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Omnichannel Retail (Web/Mobile)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120" name="Google Shape;120;g34866f5b91b_1_0"/>
          <p:cNvSpPr/>
          <p:nvPr/>
        </p:nvSpPr>
        <p:spPr>
          <a:xfrm>
            <a:off x="4884875" y="1996452"/>
            <a:ext cx="2153700" cy="6615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Placeholder/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Warehouse Management System (WMS)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121" name="Google Shape;121;g34866f5b91b_1_0"/>
          <p:cNvSpPr/>
          <p:nvPr/>
        </p:nvSpPr>
        <p:spPr>
          <a:xfrm>
            <a:off x="4884875" y="2827151"/>
            <a:ext cx="2153700" cy="6615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Placeholder/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SAP Analytics Cloud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122" name="Google Shape;122;g34866f5b91b_1_0"/>
          <p:cNvSpPr/>
          <p:nvPr/>
        </p:nvSpPr>
        <p:spPr>
          <a:xfrm>
            <a:off x="4884875" y="3657850"/>
            <a:ext cx="2153700" cy="661500"/>
          </a:xfrm>
          <a:prstGeom prst="roundRect">
            <a:avLst>
              <a:gd fmla="val 16667" name="adj"/>
            </a:avLst>
          </a:prstGeom>
          <a:solidFill>
            <a:srgbClr val="D1F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 Layer/</a:t>
            </a:r>
            <a:b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SAP BTP Kyma (IoT Sensor Data)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4866f5b91b_1_0"/>
          <p:cNvSpPr/>
          <p:nvPr/>
        </p:nvSpPr>
        <p:spPr>
          <a:xfrm>
            <a:off x="7552275" y="1722125"/>
            <a:ext cx="1275900" cy="830700"/>
          </a:xfrm>
          <a:prstGeom prst="roundRect">
            <a:avLst>
              <a:gd fmla="val 16667" name="adj"/>
            </a:avLst>
          </a:prstGeom>
          <a:solidFill>
            <a:srgbClr val="0F2B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Core Banking/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</a:rPr>
              <a:t>N/A (or Financial Records)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4" name="Google Shape;124;g34866f5b91b_1_0"/>
          <p:cNvSpPr/>
          <p:nvPr/>
        </p:nvSpPr>
        <p:spPr>
          <a:xfrm>
            <a:off x="7552287" y="2819402"/>
            <a:ext cx="1275900" cy="731400"/>
          </a:xfrm>
          <a:prstGeom prst="roundRect">
            <a:avLst>
              <a:gd fmla="val 16667" name="adj"/>
            </a:avLst>
          </a:prstGeom>
          <a:solidFill>
            <a:srgbClr val="0F2B8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Warehouse/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chemeClr val="lt1"/>
                </a:solidFill>
              </a:rPr>
              <a:t>SAP Datasphere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5" name="Google Shape;125;g34866f5b91b_1_0"/>
          <p:cNvSpPr txBox="1"/>
          <p:nvPr/>
        </p:nvSpPr>
        <p:spPr>
          <a:xfrm>
            <a:off x="321225" y="-637925"/>
            <a:ext cx="6610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Step 3: Define and visualize integration requirements (action)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4866f5b91b_1_0"/>
          <p:cNvSpPr txBox="1"/>
          <p:nvPr/>
        </p:nvSpPr>
        <p:spPr>
          <a:xfrm>
            <a:off x="182875" y="201575"/>
            <a:ext cx="663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2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Architecture Template (SAP)</a:t>
            </a:r>
            <a:endParaRPr b="1" i="0" sz="22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